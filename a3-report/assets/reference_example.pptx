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2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39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37007-4694-4480-9696-1DF766D5600D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7206-CE19-419F-B2C7-88240B81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385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37007-4694-4480-9696-1DF766D5600D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7206-CE19-419F-B2C7-88240B81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282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/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37007-4694-4480-9696-1DF766D5600D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7206-CE19-419F-B2C7-88240B81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963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37007-4694-4480-9696-1DF766D5600D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7206-CE19-419F-B2C7-88240B81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044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37007-4694-4480-9696-1DF766D5600D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7206-CE19-419F-B2C7-88240B81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664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37007-4694-4480-9696-1DF766D5600D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7206-CE19-419F-B2C7-88240B81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548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37007-4694-4480-9696-1DF766D5600D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7206-CE19-419F-B2C7-88240B81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192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37007-4694-4480-9696-1DF766D5600D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7206-CE19-419F-B2C7-88240B81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1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37007-4694-4480-9696-1DF766D5600D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7206-CE19-419F-B2C7-88240B81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005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37007-4694-4480-9696-1DF766D5600D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7206-CE19-419F-B2C7-88240B81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777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37007-4694-4480-9696-1DF766D5600D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B7206-CE19-419F-B2C7-88240B81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443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137007-4694-4480-9696-1DF766D5600D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B7206-CE19-419F-B2C7-88240B81A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678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231EA1-E5F9-496B-A5CF-E5E092C2B74E}"/>
              </a:ext>
            </a:extLst>
          </p:cNvPr>
          <p:cNvSpPr txBox="1"/>
          <p:nvPr/>
        </p:nvSpPr>
        <p:spPr>
          <a:xfrm>
            <a:off x="3907215" y="106854"/>
            <a:ext cx="608786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Example: </a:t>
            </a:r>
            <a:r>
              <a:rPr lang="en-US" sz="2000" dirty="0"/>
              <a:t>Improving Ergonomic Problems in my room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86F811-A5C1-49A1-86D0-78FF47F81886}"/>
              </a:ext>
            </a:extLst>
          </p:cNvPr>
          <p:cNvSpPr/>
          <p:nvPr/>
        </p:nvSpPr>
        <p:spPr>
          <a:xfrm>
            <a:off x="187037" y="1065432"/>
            <a:ext cx="5974772" cy="1501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AUM started online classes from March, and I spend most of the time in my study room.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Sitting for more than 12 hours makes me very exhausted, and I need to identify and improve ergonomic problems.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Coronavirus pandemic may continue next 1-2 years (source)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 want to resolve my problems in my study room.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8AD745-EB71-4A1F-B83C-ADD5E1E7DB64}"/>
              </a:ext>
            </a:extLst>
          </p:cNvPr>
          <p:cNvSpPr txBox="1"/>
          <p:nvPr/>
        </p:nvSpPr>
        <p:spPr>
          <a:xfrm>
            <a:off x="187037" y="698471"/>
            <a:ext cx="354330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1. Background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474354-6D54-4640-B1D3-DD5E5F5A22FA}"/>
              </a:ext>
            </a:extLst>
          </p:cNvPr>
          <p:cNvSpPr txBox="1"/>
          <p:nvPr/>
        </p:nvSpPr>
        <p:spPr>
          <a:xfrm>
            <a:off x="187037" y="2537737"/>
            <a:ext cx="3543300" cy="3693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2. Current Problems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DDA431-BE85-4815-A00D-D333CECCAF42}"/>
              </a:ext>
            </a:extLst>
          </p:cNvPr>
          <p:cNvSpPr/>
          <p:nvPr/>
        </p:nvSpPr>
        <p:spPr>
          <a:xfrm>
            <a:off x="202623" y="2907069"/>
            <a:ext cx="5974773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07B16F-9456-4B84-A298-A872116805E3}"/>
              </a:ext>
            </a:extLst>
          </p:cNvPr>
          <p:cNvSpPr txBox="1"/>
          <p:nvPr/>
        </p:nvSpPr>
        <p:spPr>
          <a:xfrm>
            <a:off x="187037" y="4309500"/>
            <a:ext cx="3543300" cy="3693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3. Goals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BEEFD1-3467-4F76-AB64-967A9CAD748E}"/>
              </a:ext>
            </a:extLst>
          </p:cNvPr>
          <p:cNvSpPr/>
          <p:nvPr/>
        </p:nvSpPr>
        <p:spPr>
          <a:xfrm>
            <a:off x="187037" y="4666334"/>
            <a:ext cx="5974772" cy="6514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Resolve the above problems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Make a feasible implementation / deployment plan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4A1FD3-517D-4FD2-B899-E941C9A743F6}"/>
              </a:ext>
            </a:extLst>
          </p:cNvPr>
          <p:cNvSpPr txBox="1"/>
          <p:nvPr/>
        </p:nvSpPr>
        <p:spPr>
          <a:xfrm>
            <a:off x="6624204" y="6197270"/>
            <a:ext cx="3543300" cy="3693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7. Cost Analysis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ACF822-B078-4533-87AD-098A363642B0}"/>
              </a:ext>
            </a:extLst>
          </p:cNvPr>
          <p:cNvSpPr/>
          <p:nvPr/>
        </p:nvSpPr>
        <p:spPr>
          <a:xfrm>
            <a:off x="6636327" y="6586429"/>
            <a:ext cx="5974772" cy="18346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It is assumed to use items for 10 years to 30 years (my children can also use them)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Hours in a year = 4 hours/day x 7 days/week x 50 weeks/year = 1400 hours/year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The total cost per hour was 0.002KD/h, and it is acceptable for 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If I spend one more year to graduate, it costs more than 418KD, this is acceptable.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B07885-1519-4EAE-8BA6-393554B757C2}"/>
              </a:ext>
            </a:extLst>
          </p:cNvPr>
          <p:cNvSpPr/>
          <p:nvPr/>
        </p:nvSpPr>
        <p:spPr>
          <a:xfrm>
            <a:off x="6636327" y="8853963"/>
            <a:ext cx="5974772" cy="6017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8F472D-A098-46BE-86B6-2A6A4BBA9944}"/>
              </a:ext>
            </a:extLst>
          </p:cNvPr>
          <p:cNvSpPr txBox="1"/>
          <p:nvPr/>
        </p:nvSpPr>
        <p:spPr>
          <a:xfrm>
            <a:off x="6636327" y="8452835"/>
            <a:ext cx="3543300" cy="3693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8. Timeline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FF1E4A-C705-429D-A9A8-E391E07A8FEF}"/>
              </a:ext>
            </a:extLst>
          </p:cNvPr>
          <p:cNvSpPr txBox="1"/>
          <p:nvPr/>
        </p:nvSpPr>
        <p:spPr>
          <a:xfrm>
            <a:off x="93519" y="0"/>
            <a:ext cx="3880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American University of the Middle East</a:t>
            </a:r>
          </a:p>
          <a:p>
            <a:r>
              <a:rPr lang="en-US" dirty="0"/>
              <a:t>IE386 (Work Analysis &amp; Design I) 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AD96B9-4CCF-4DE3-9C27-DC0BC6A66ECC}"/>
              </a:ext>
            </a:extLst>
          </p:cNvPr>
          <p:cNvSpPr txBox="1"/>
          <p:nvPr/>
        </p:nvSpPr>
        <p:spPr>
          <a:xfrm>
            <a:off x="10179627" y="-3719"/>
            <a:ext cx="2583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IE386 (Your Section)</a:t>
            </a:r>
          </a:p>
          <a:p>
            <a:r>
              <a:rPr lang="en-US" dirty="0"/>
              <a:t>ID, Name  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F901A5-CD8C-4538-93F9-0164315A0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2733" y="2933962"/>
            <a:ext cx="1969076" cy="13265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830357-4E42-4F51-B29F-32B67474DB02}"/>
              </a:ext>
            </a:extLst>
          </p:cNvPr>
          <p:cNvSpPr txBox="1"/>
          <p:nvPr/>
        </p:nvSpPr>
        <p:spPr>
          <a:xfrm>
            <a:off x="202622" y="2892689"/>
            <a:ext cx="37045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Font typeface="+mj-lt"/>
              <a:buAutoNum type="romanUcPeriod"/>
            </a:pPr>
            <a:r>
              <a:rPr lang="en-US" sz="1400" dirty="0"/>
              <a:t>My desk is always messy.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400" dirty="0"/>
              <a:t>I sit with bad posture for long hours.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400" dirty="0"/>
              <a:t>I have a neck pain.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400" dirty="0"/>
              <a:t>I get tired after sitting 2 hours.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400" dirty="0"/>
              <a:t>Sometimes, iPhone, keys, wallet disappears.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0F8D8E-CC23-456C-A577-AEBAB37D54F7}"/>
              </a:ext>
            </a:extLst>
          </p:cNvPr>
          <p:cNvSpPr txBox="1"/>
          <p:nvPr/>
        </p:nvSpPr>
        <p:spPr>
          <a:xfrm>
            <a:off x="187037" y="5315572"/>
            <a:ext cx="4409410" cy="3693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4. Five-Whys Analysis (Basic IE Techniques)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C58EFB5-1962-4DAF-A736-E4082A98F010}"/>
              </a:ext>
            </a:extLst>
          </p:cNvPr>
          <p:cNvSpPr/>
          <p:nvPr/>
        </p:nvSpPr>
        <p:spPr>
          <a:xfrm>
            <a:off x="187037" y="5674640"/>
            <a:ext cx="5990357" cy="37810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68B234-F82B-446A-8145-E51A59AE3AF7}"/>
              </a:ext>
            </a:extLst>
          </p:cNvPr>
          <p:cNvSpPr txBox="1"/>
          <p:nvPr/>
        </p:nvSpPr>
        <p:spPr>
          <a:xfrm>
            <a:off x="6600758" y="3448731"/>
            <a:ext cx="3543300" cy="3693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6. Proposed Solutions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2BCBC00-1F25-42CD-880D-362C379C35ED}"/>
              </a:ext>
            </a:extLst>
          </p:cNvPr>
          <p:cNvSpPr/>
          <p:nvPr/>
        </p:nvSpPr>
        <p:spPr>
          <a:xfrm>
            <a:off x="6616345" y="3808998"/>
            <a:ext cx="5974772" cy="23718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Solutions for the search/messy (I, V) problems</a:t>
            </a:r>
          </a:p>
          <a:p>
            <a:pPr marL="228600" indent="-228600">
              <a:buFont typeface="+mj-lt"/>
              <a:buAutoNum type="alphaLcParenR"/>
            </a:pPr>
            <a:r>
              <a:rPr lang="en-US" sz="1200" dirty="0">
                <a:solidFill>
                  <a:schemeClr val="accent1"/>
                </a:solidFill>
              </a:rPr>
              <a:t>Change the layout of the workstation </a:t>
            </a:r>
          </a:p>
          <a:p>
            <a:pPr marL="228600" indent="-228600">
              <a:buFont typeface="+mj-lt"/>
              <a:buAutoNum type="alphaLcParenR"/>
            </a:pPr>
            <a:r>
              <a:rPr lang="en-US" sz="1200" dirty="0">
                <a:solidFill>
                  <a:schemeClr val="accent1"/>
                </a:solidFill>
              </a:rPr>
              <a:t>Buy a light-stand, small containers, and bookshelf</a:t>
            </a:r>
          </a:p>
          <a:p>
            <a:pPr marL="228600" indent="-228600">
              <a:buFont typeface="+mj-lt"/>
              <a:buAutoNum type="alphaLcParenR"/>
            </a:pPr>
            <a:r>
              <a:rPr lang="en-US" sz="1200" dirty="0">
                <a:solidFill>
                  <a:schemeClr val="accent1"/>
                </a:solidFill>
              </a:rPr>
              <a:t>Make preposition (home-position) for tools and put them back after using them.</a:t>
            </a:r>
          </a:p>
          <a:p>
            <a:pPr marL="228600" indent="-228600">
              <a:buFont typeface="+mj-lt"/>
              <a:buAutoNum type="alphaLcParenR"/>
            </a:pPr>
            <a:r>
              <a:rPr lang="en-US" sz="1200" dirty="0">
                <a:solidFill>
                  <a:schemeClr val="accent1"/>
                </a:solidFill>
              </a:rPr>
              <a:t>Make a routine time for organizing and cleaning every day for 5 minutes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Solutions for the bad posture, neck pain and tiresome (II, III, and IV) problems.</a:t>
            </a:r>
          </a:p>
          <a:p>
            <a:pPr marL="228600" indent="-228600">
              <a:buFont typeface="+mj-lt"/>
              <a:buAutoNum type="alphaUcPeriod"/>
            </a:pP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Adjust the chair, then adjust the keyboard, mouse, and finally monitor so that joints maintain in a neutral position.</a:t>
            </a:r>
          </a:p>
          <a:p>
            <a:pPr marL="228600" indent="-228600">
              <a:buFont typeface="+mj-lt"/>
              <a:buAutoNum type="alphaUcPeriod"/>
            </a:pP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Position the monitor 16 30 inches (roughly arm’s length) from my eyes.</a:t>
            </a:r>
          </a:p>
          <a:p>
            <a:pPr marL="228600" indent="-228600">
              <a:buFont typeface="+mj-lt"/>
              <a:buAutoNum type="alphaUcPeriod"/>
            </a:pP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Buy a document holder</a:t>
            </a:r>
          </a:p>
          <a:p>
            <a:pPr marL="228600" indent="-228600">
              <a:buFont typeface="+mj-lt"/>
              <a:buAutoNum type="alphaUcPeriod"/>
            </a:pP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Avoid static postures, and make time for stretching and back-muscle exercising</a:t>
            </a:r>
          </a:p>
          <a:p>
            <a:pPr marL="228600" indent="-228600">
              <a:buFont typeface="+mj-lt"/>
              <a:buAutoNum type="alphaUcPeriod"/>
            </a:pP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Buy a 34-inch wide-monitor</a:t>
            </a:r>
            <a:endParaRPr lang="en-US" sz="1200" dirty="0">
              <a:solidFill>
                <a:schemeClr val="tx1"/>
              </a:solidFill>
            </a:endParaRPr>
          </a:p>
          <a:p>
            <a:pPr marL="228600" indent="-228600">
              <a:buFont typeface="+mj-lt"/>
              <a:buAutoNum type="alphaUcPeriod"/>
            </a:pPr>
            <a:r>
              <a:rPr lang="en-US" sz="1200" dirty="0">
                <a:solidFill>
                  <a:schemeClr val="accent1"/>
                </a:solidFill>
              </a:rPr>
              <a:t>Conduct stretch and exercise the back muscle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F34300F-A343-4EF4-B7AE-60F18465899F}"/>
              </a:ext>
            </a:extLst>
          </p:cNvPr>
          <p:cNvSpPr/>
          <p:nvPr/>
        </p:nvSpPr>
        <p:spPr>
          <a:xfrm>
            <a:off x="6600758" y="1051394"/>
            <a:ext cx="5998218" cy="24083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A. Used Ergonomics checklist (“Search”) for Item lost and messy desk problems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0000"/>
                </a:solidFill>
              </a:rPr>
              <a:t>Perhaps labels or color could be utilized?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0000"/>
                </a:solidFill>
              </a:rPr>
              <a:t>Will better layout of the workstation eliminate searching?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0000"/>
                </a:solidFill>
              </a:rPr>
              <a:t>Is proper lighting being used?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0000"/>
                </a:solidFill>
              </a:rPr>
              <a:t>Can tools and parts be prepositioned?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B. Used the Ergonomics checklist (“General posture evaluation, computer workstation, and general posture evaluation) for the neck-pain, tiresome, and bad posture problems.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0000"/>
                </a:solidFill>
              </a:rPr>
              <a:t>Are the joints maintained in a neutral position? (most are straight, elbow is at 90)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0000"/>
                </a:solidFill>
              </a:rPr>
              <a:t>Has the chair been adjusted first, then keyboard and mouse, finally the monitor?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0000"/>
                </a:solidFill>
              </a:rPr>
              <a:t>Is the monitor positioned 16 to 30 inches (roughly arm’s length) from the eyes?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0000"/>
                </a:solidFill>
              </a:rPr>
              <a:t>Is the document holder utilized for data transfer from papers?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0000"/>
                </a:solidFill>
              </a:rPr>
              <a:t>Are static postures avoided? i.e., are there changes in posture?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F0F921-E958-414F-8825-4215AA01A308}"/>
              </a:ext>
            </a:extLst>
          </p:cNvPr>
          <p:cNvSpPr txBox="1"/>
          <p:nvPr/>
        </p:nvSpPr>
        <p:spPr>
          <a:xfrm>
            <a:off x="6624204" y="698471"/>
            <a:ext cx="3543300" cy="3693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5. Ergonomic Analysis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3E90DA-DB8B-411D-AB0D-E519F017ECE6}"/>
              </a:ext>
            </a:extLst>
          </p:cNvPr>
          <p:cNvSpPr txBox="1"/>
          <p:nvPr/>
        </p:nvSpPr>
        <p:spPr>
          <a:xfrm>
            <a:off x="300125" y="5963656"/>
            <a:ext cx="7924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Items lost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558F992-EEB5-4AB7-8CCE-594C843D5178}"/>
              </a:ext>
            </a:extLst>
          </p:cNvPr>
          <p:cNvSpPr txBox="1"/>
          <p:nvPr/>
        </p:nvSpPr>
        <p:spPr>
          <a:xfrm>
            <a:off x="2231794" y="6004243"/>
            <a:ext cx="9867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Desk is messy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884AA3-19C0-4B7C-A089-CC264F31E290}"/>
              </a:ext>
            </a:extLst>
          </p:cNvPr>
          <p:cNvSpPr txBox="1"/>
          <p:nvPr/>
        </p:nvSpPr>
        <p:spPr>
          <a:xfrm>
            <a:off x="1092604" y="5901747"/>
            <a:ext cx="11857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Because it takes time to find</a:t>
            </a:r>
          </a:p>
        </p:txBody>
      </p:sp>
      <p:sp>
        <p:nvSpPr>
          <p:cNvPr id="40" name="Arrow: Curved Down 39">
            <a:extLst>
              <a:ext uri="{FF2B5EF4-FFF2-40B4-BE49-F238E27FC236}">
                <a16:creationId xmlns:a16="http://schemas.microsoft.com/office/drawing/2014/main" id="{E80C8888-9F47-4116-8EE7-DA2AA24F4136}"/>
              </a:ext>
            </a:extLst>
          </p:cNvPr>
          <p:cNvSpPr/>
          <p:nvPr/>
        </p:nvSpPr>
        <p:spPr>
          <a:xfrm>
            <a:off x="963930" y="5901747"/>
            <a:ext cx="226178" cy="142225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Arrow: Curved Down 43">
            <a:extLst>
              <a:ext uri="{FF2B5EF4-FFF2-40B4-BE49-F238E27FC236}">
                <a16:creationId xmlns:a16="http://schemas.microsoft.com/office/drawing/2014/main" id="{6C0E4D4C-4F53-4638-BC46-622447AA2F51}"/>
              </a:ext>
            </a:extLst>
          </p:cNvPr>
          <p:cNvSpPr/>
          <p:nvPr/>
        </p:nvSpPr>
        <p:spPr>
          <a:xfrm>
            <a:off x="2104743" y="5892543"/>
            <a:ext cx="226178" cy="142225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5" name="Arrow: Curved Down 44">
            <a:extLst>
              <a:ext uri="{FF2B5EF4-FFF2-40B4-BE49-F238E27FC236}">
                <a16:creationId xmlns:a16="http://schemas.microsoft.com/office/drawing/2014/main" id="{28AFFB8E-EF25-4712-8890-E6C796BCBEDF}"/>
              </a:ext>
            </a:extLst>
          </p:cNvPr>
          <p:cNvSpPr/>
          <p:nvPr/>
        </p:nvSpPr>
        <p:spPr>
          <a:xfrm>
            <a:off x="3088671" y="5892543"/>
            <a:ext cx="226178" cy="142225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0537526-4DB9-4C2C-9D02-1421AB10842C}"/>
              </a:ext>
            </a:extLst>
          </p:cNvPr>
          <p:cNvSpPr txBox="1"/>
          <p:nvPr/>
        </p:nvSpPr>
        <p:spPr>
          <a:xfrm>
            <a:off x="3168361" y="6016124"/>
            <a:ext cx="9867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Everything on desk</a:t>
            </a:r>
          </a:p>
        </p:txBody>
      </p:sp>
      <p:sp>
        <p:nvSpPr>
          <p:cNvPr id="47" name="Arrow: Curved Down 46">
            <a:extLst>
              <a:ext uri="{FF2B5EF4-FFF2-40B4-BE49-F238E27FC236}">
                <a16:creationId xmlns:a16="http://schemas.microsoft.com/office/drawing/2014/main" id="{81FD530D-F25F-4CCB-A9A9-1AD2B0278085}"/>
              </a:ext>
            </a:extLst>
          </p:cNvPr>
          <p:cNvSpPr/>
          <p:nvPr/>
        </p:nvSpPr>
        <p:spPr>
          <a:xfrm>
            <a:off x="3986703" y="5899754"/>
            <a:ext cx="226178" cy="142225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5669945-7BFF-4F1A-B950-0C48D66FAF1A}"/>
              </a:ext>
            </a:extLst>
          </p:cNvPr>
          <p:cNvSpPr txBox="1"/>
          <p:nvPr/>
        </p:nvSpPr>
        <p:spPr>
          <a:xfrm>
            <a:off x="4155151" y="6054041"/>
            <a:ext cx="986790" cy="430887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I do not have bookshelf</a:t>
            </a:r>
          </a:p>
        </p:txBody>
      </p:sp>
      <p:sp>
        <p:nvSpPr>
          <p:cNvPr id="49" name="Arrow: Curved Down 48">
            <a:extLst>
              <a:ext uri="{FF2B5EF4-FFF2-40B4-BE49-F238E27FC236}">
                <a16:creationId xmlns:a16="http://schemas.microsoft.com/office/drawing/2014/main" id="{5D852B1F-5A51-4EB2-8EA9-6AE6E97572FF}"/>
              </a:ext>
            </a:extLst>
          </p:cNvPr>
          <p:cNvSpPr/>
          <p:nvPr/>
        </p:nvSpPr>
        <p:spPr>
          <a:xfrm>
            <a:off x="4968959" y="5945011"/>
            <a:ext cx="226178" cy="142225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E29DDD2-B654-4B85-87A4-C9528CD5E352}"/>
              </a:ext>
            </a:extLst>
          </p:cNvPr>
          <p:cNvSpPr txBox="1"/>
          <p:nvPr/>
        </p:nvSpPr>
        <p:spPr>
          <a:xfrm>
            <a:off x="5137122" y="6077938"/>
            <a:ext cx="9867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No money to buy it</a:t>
            </a:r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2A8DC4C0-0EC4-4764-8A25-4A62773466EB}"/>
              </a:ext>
            </a:extLst>
          </p:cNvPr>
          <p:cNvSpPr/>
          <p:nvPr/>
        </p:nvSpPr>
        <p:spPr>
          <a:xfrm rot="2625429">
            <a:off x="2938824" y="6459174"/>
            <a:ext cx="435679" cy="1288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1111D1-E023-44FA-8D84-A9CBBB7CCDD9}"/>
              </a:ext>
            </a:extLst>
          </p:cNvPr>
          <p:cNvSpPr txBox="1"/>
          <p:nvPr/>
        </p:nvSpPr>
        <p:spPr>
          <a:xfrm>
            <a:off x="3410074" y="6565831"/>
            <a:ext cx="1284462" cy="430887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No home-position for items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C8FF61-9AB8-45F0-A206-0FA4301B0700}"/>
              </a:ext>
            </a:extLst>
          </p:cNvPr>
          <p:cNvSpPr txBox="1"/>
          <p:nvPr/>
        </p:nvSpPr>
        <p:spPr>
          <a:xfrm>
            <a:off x="4550982" y="7050483"/>
            <a:ext cx="1562144" cy="430887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No containers for small items</a:t>
            </a:r>
          </a:p>
        </p:txBody>
      </p:sp>
      <p:sp>
        <p:nvSpPr>
          <p:cNvPr id="59" name="Arrow: Right 58">
            <a:extLst>
              <a:ext uri="{FF2B5EF4-FFF2-40B4-BE49-F238E27FC236}">
                <a16:creationId xmlns:a16="http://schemas.microsoft.com/office/drawing/2014/main" id="{B36A32ED-5AE6-4207-842F-E612A4B951D6}"/>
              </a:ext>
            </a:extLst>
          </p:cNvPr>
          <p:cNvSpPr/>
          <p:nvPr/>
        </p:nvSpPr>
        <p:spPr>
          <a:xfrm rot="2625429">
            <a:off x="4335374" y="7039328"/>
            <a:ext cx="278130" cy="623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53A9024-CEE1-43B9-BFBD-7980C7AE909F}"/>
              </a:ext>
            </a:extLst>
          </p:cNvPr>
          <p:cNvSpPr txBox="1"/>
          <p:nvPr/>
        </p:nvSpPr>
        <p:spPr>
          <a:xfrm>
            <a:off x="832769" y="5712833"/>
            <a:ext cx="6113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Why-1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26B4F02-656A-483A-B837-E42014CA1389}"/>
              </a:ext>
            </a:extLst>
          </p:cNvPr>
          <p:cNvSpPr txBox="1"/>
          <p:nvPr/>
        </p:nvSpPr>
        <p:spPr>
          <a:xfrm>
            <a:off x="1988298" y="5705826"/>
            <a:ext cx="6113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Why-2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71A50BB-5DF6-48F8-ABC1-E9F886B98C0C}"/>
              </a:ext>
            </a:extLst>
          </p:cNvPr>
          <p:cNvSpPr txBox="1"/>
          <p:nvPr/>
        </p:nvSpPr>
        <p:spPr>
          <a:xfrm>
            <a:off x="2936421" y="5694138"/>
            <a:ext cx="6113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Why-3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C564367-0E82-44F7-A495-40AB78177C2D}"/>
              </a:ext>
            </a:extLst>
          </p:cNvPr>
          <p:cNvSpPr txBox="1"/>
          <p:nvPr/>
        </p:nvSpPr>
        <p:spPr>
          <a:xfrm>
            <a:off x="3846782" y="5694138"/>
            <a:ext cx="6113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Why-4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6D73897-3366-4874-AF79-DB7673A56A1E}"/>
              </a:ext>
            </a:extLst>
          </p:cNvPr>
          <p:cNvSpPr txBox="1"/>
          <p:nvPr/>
        </p:nvSpPr>
        <p:spPr>
          <a:xfrm>
            <a:off x="4776382" y="5743692"/>
            <a:ext cx="6113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Why-5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F7E0752-05D6-4D15-B8FF-034CDA1E9159}"/>
              </a:ext>
            </a:extLst>
          </p:cNvPr>
          <p:cNvSpPr txBox="1"/>
          <p:nvPr/>
        </p:nvSpPr>
        <p:spPr>
          <a:xfrm>
            <a:off x="3163060" y="6346756"/>
            <a:ext cx="6113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Why-4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25F9F56-6139-4433-8FEF-6C464F847A6C}"/>
              </a:ext>
            </a:extLst>
          </p:cNvPr>
          <p:cNvSpPr txBox="1"/>
          <p:nvPr/>
        </p:nvSpPr>
        <p:spPr>
          <a:xfrm>
            <a:off x="4491256" y="6926723"/>
            <a:ext cx="6113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Why-5</a:t>
            </a:r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0FD217F8-00B1-4ECC-989E-4322BCAC655E}"/>
              </a:ext>
            </a:extLst>
          </p:cNvPr>
          <p:cNvSpPr/>
          <p:nvPr/>
        </p:nvSpPr>
        <p:spPr>
          <a:xfrm rot="5400000">
            <a:off x="2234247" y="6313980"/>
            <a:ext cx="278130" cy="683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9CA5410-2A8D-4C9F-8309-EFEEC09B468B}"/>
              </a:ext>
            </a:extLst>
          </p:cNvPr>
          <p:cNvSpPr txBox="1"/>
          <p:nvPr/>
        </p:nvSpPr>
        <p:spPr>
          <a:xfrm>
            <a:off x="2403762" y="6308905"/>
            <a:ext cx="6113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Why-3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460EF51-A599-49D7-8A62-0769A15112AA}"/>
              </a:ext>
            </a:extLst>
          </p:cNvPr>
          <p:cNvSpPr txBox="1"/>
          <p:nvPr/>
        </p:nvSpPr>
        <p:spPr>
          <a:xfrm>
            <a:off x="1738399" y="6449277"/>
            <a:ext cx="9867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Not organized</a:t>
            </a:r>
          </a:p>
        </p:txBody>
      </p:sp>
      <p:sp>
        <p:nvSpPr>
          <p:cNvPr id="71" name="Arrow: Right 70">
            <a:extLst>
              <a:ext uri="{FF2B5EF4-FFF2-40B4-BE49-F238E27FC236}">
                <a16:creationId xmlns:a16="http://schemas.microsoft.com/office/drawing/2014/main" id="{CF62B7AE-0256-496E-8C28-F7B0479BEFBB}"/>
              </a:ext>
            </a:extLst>
          </p:cNvPr>
          <p:cNvSpPr/>
          <p:nvPr/>
        </p:nvSpPr>
        <p:spPr>
          <a:xfrm rot="5400000">
            <a:off x="2269416" y="6716914"/>
            <a:ext cx="200385" cy="683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6413378-60F7-4B4C-BBD3-9AC2C5F6181B}"/>
              </a:ext>
            </a:extLst>
          </p:cNvPr>
          <p:cNvSpPr txBox="1"/>
          <p:nvPr/>
        </p:nvSpPr>
        <p:spPr>
          <a:xfrm>
            <a:off x="1789565" y="6788223"/>
            <a:ext cx="11468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No habit to organize/clean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FFA7AA0-B790-4AED-9940-8238ED2C3428}"/>
              </a:ext>
            </a:extLst>
          </p:cNvPr>
          <p:cNvSpPr txBox="1"/>
          <p:nvPr/>
        </p:nvSpPr>
        <p:spPr>
          <a:xfrm>
            <a:off x="2403761" y="6624514"/>
            <a:ext cx="6113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Why-4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3BB7CD9-270E-46C4-AEBC-52389D568728}"/>
              </a:ext>
            </a:extLst>
          </p:cNvPr>
          <p:cNvSpPr txBox="1"/>
          <p:nvPr/>
        </p:nvSpPr>
        <p:spPr>
          <a:xfrm>
            <a:off x="2876419" y="7034836"/>
            <a:ext cx="1278731" cy="430887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Did not make a routine time</a:t>
            </a:r>
          </a:p>
        </p:txBody>
      </p:sp>
      <p:sp>
        <p:nvSpPr>
          <p:cNvPr id="75" name="Arrow: Curved Down 74">
            <a:extLst>
              <a:ext uri="{FF2B5EF4-FFF2-40B4-BE49-F238E27FC236}">
                <a16:creationId xmlns:a16="http://schemas.microsoft.com/office/drawing/2014/main" id="{3FA4C4C5-F692-414B-8116-005D98732039}"/>
              </a:ext>
            </a:extLst>
          </p:cNvPr>
          <p:cNvSpPr/>
          <p:nvPr/>
        </p:nvSpPr>
        <p:spPr>
          <a:xfrm>
            <a:off x="2783924" y="6902132"/>
            <a:ext cx="226178" cy="142225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0FEF889-F855-490E-971D-74D0F9832F31}"/>
              </a:ext>
            </a:extLst>
          </p:cNvPr>
          <p:cNvSpPr txBox="1"/>
          <p:nvPr/>
        </p:nvSpPr>
        <p:spPr>
          <a:xfrm>
            <a:off x="2983928" y="6840141"/>
            <a:ext cx="6113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Why-5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858E7CE9-B92B-4451-9BAA-71B8492635E9}"/>
              </a:ext>
            </a:extLst>
          </p:cNvPr>
          <p:cNvCxnSpPr>
            <a:stCxn id="29" idx="1"/>
            <a:endCxn id="29" idx="3"/>
          </p:cNvCxnSpPr>
          <p:nvPr/>
        </p:nvCxnSpPr>
        <p:spPr>
          <a:xfrm>
            <a:off x="187037" y="7565184"/>
            <a:ext cx="59903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F606EECF-C7F5-4BB6-8B96-8C71BC7D5793}"/>
              </a:ext>
            </a:extLst>
          </p:cNvPr>
          <p:cNvSpPr txBox="1"/>
          <p:nvPr/>
        </p:nvSpPr>
        <p:spPr>
          <a:xfrm>
            <a:off x="300125" y="7661213"/>
            <a:ext cx="7924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Neck pain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A42EE4A-380B-4ADF-8D85-44464840AA59}"/>
              </a:ext>
            </a:extLst>
          </p:cNvPr>
          <p:cNvSpPr txBox="1"/>
          <p:nvPr/>
        </p:nvSpPr>
        <p:spPr>
          <a:xfrm>
            <a:off x="1214938" y="7672398"/>
            <a:ext cx="11857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Bend my back</a:t>
            </a:r>
          </a:p>
          <a:p>
            <a:r>
              <a:rPr lang="en-US" sz="1100" dirty="0"/>
              <a:t>(kyphosis)</a:t>
            </a:r>
          </a:p>
        </p:txBody>
      </p:sp>
      <p:sp>
        <p:nvSpPr>
          <p:cNvPr id="81" name="Arrow: Curved Down 80">
            <a:extLst>
              <a:ext uri="{FF2B5EF4-FFF2-40B4-BE49-F238E27FC236}">
                <a16:creationId xmlns:a16="http://schemas.microsoft.com/office/drawing/2014/main" id="{A98E6CA4-2C2B-4A88-AF2C-1AD4183BB525}"/>
              </a:ext>
            </a:extLst>
          </p:cNvPr>
          <p:cNvSpPr/>
          <p:nvPr/>
        </p:nvSpPr>
        <p:spPr>
          <a:xfrm>
            <a:off x="2133034" y="7648428"/>
            <a:ext cx="226178" cy="142225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82F07BD-1C8F-4A7D-B086-67C2F12AB627}"/>
              </a:ext>
            </a:extLst>
          </p:cNvPr>
          <p:cNvSpPr txBox="1"/>
          <p:nvPr/>
        </p:nvSpPr>
        <p:spPr>
          <a:xfrm>
            <a:off x="2116538" y="7734473"/>
            <a:ext cx="118577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Because I want to see PC screen clearly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B508263-FE11-4B22-A653-4ECD6142B0EB}"/>
              </a:ext>
            </a:extLst>
          </p:cNvPr>
          <p:cNvSpPr txBox="1"/>
          <p:nvPr/>
        </p:nvSpPr>
        <p:spPr>
          <a:xfrm>
            <a:off x="3168820" y="7745893"/>
            <a:ext cx="11857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Text size is small</a:t>
            </a:r>
          </a:p>
        </p:txBody>
      </p:sp>
      <p:sp>
        <p:nvSpPr>
          <p:cNvPr id="84" name="Arrow: Curved Down 83">
            <a:extLst>
              <a:ext uri="{FF2B5EF4-FFF2-40B4-BE49-F238E27FC236}">
                <a16:creationId xmlns:a16="http://schemas.microsoft.com/office/drawing/2014/main" id="{38DA6DF3-EC35-4896-AC5C-7DAAE65D3559}"/>
              </a:ext>
            </a:extLst>
          </p:cNvPr>
          <p:cNvSpPr/>
          <p:nvPr/>
        </p:nvSpPr>
        <p:spPr>
          <a:xfrm>
            <a:off x="3033721" y="7644107"/>
            <a:ext cx="226178" cy="142225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639876A-9BF2-4416-99B2-49335FF0DF8D}"/>
              </a:ext>
            </a:extLst>
          </p:cNvPr>
          <p:cNvSpPr txBox="1"/>
          <p:nvPr/>
        </p:nvSpPr>
        <p:spPr>
          <a:xfrm>
            <a:off x="4408003" y="7735211"/>
            <a:ext cx="1678788" cy="430887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I did not change the PC settings</a:t>
            </a:r>
          </a:p>
        </p:txBody>
      </p:sp>
      <p:sp>
        <p:nvSpPr>
          <p:cNvPr id="86" name="Arrow: Curved Down 85">
            <a:extLst>
              <a:ext uri="{FF2B5EF4-FFF2-40B4-BE49-F238E27FC236}">
                <a16:creationId xmlns:a16="http://schemas.microsoft.com/office/drawing/2014/main" id="{11398547-E4C5-4412-8E68-220CCFADA44B}"/>
              </a:ext>
            </a:extLst>
          </p:cNvPr>
          <p:cNvSpPr/>
          <p:nvPr/>
        </p:nvSpPr>
        <p:spPr>
          <a:xfrm>
            <a:off x="4215342" y="7657639"/>
            <a:ext cx="226178" cy="142225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3F1F63E-AB05-4907-891F-A00991FC1DAF}"/>
              </a:ext>
            </a:extLst>
          </p:cNvPr>
          <p:cNvSpPr txBox="1"/>
          <p:nvPr/>
        </p:nvSpPr>
        <p:spPr>
          <a:xfrm>
            <a:off x="1248230" y="7525318"/>
            <a:ext cx="6113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Why-1</a:t>
            </a:r>
          </a:p>
        </p:txBody>
      </p:sp>
      <p:sp>
        <p:nvSpPr>
          <p:cNvPr id="88" name="Arrow: Curved Down 87">
            <a:extLst>
              <a:ext uri="{FF2B5EF4-FFF2-40B4-BE49-F238E27FC236}">
                <a16:creationId xmlns:a16="http://schemas.microsoft.com/office/drawing/2014/main" id="{CC64BDC6-7FED-4E64-B782-F515C9192B54}"/>
              </a:ext>
            </a:extLst>
          </p:cNvPr>
          <p:cNvSpPr/>
          <p:nvPr/>
        </p:nvSpPr>
        <p:spPr>
          <a:xfrm>
            <a:off x="1089832" y="7638495"/>
            <a:ext cx="226178" cy="142225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4919537-75F8-4017-B5B9-92B7283AEBD6}"/>
              </a:ext>
            </a:extLst>
          </p:cNvPr>
          <p:cNvSpPr txBox="1"/>
          <p:nvPr/>
        </p:nvSpPr>
        <p:spPr>
          <a:xfrm>
            <a:off x="2281245" y="7544433"/>
            <a:ext cx="6113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Why-2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F1FDE79-C429-4EDF-8047-FB340F5756C3}"/>
              </a:ext>
            </a:extLst>
          </p:cNvPr>
          <p:cNvSpPr txBox="1"/>
          <p:nvPr/>
        </p:nvSpPr>
        <p:spPr>
          <a:xfrm>
            <a:off x="3170604" y="7536281"/>
            <a:ext cx="6113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Why-3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C4ECD90-00C9-4A1E-9788-F41D74ECD28F}"/>
              </a:ext>
            </a:extLst>
          </p:cNvPr>
          <p:cNvSpPr txBox="1"/>
          <p:nvPr/>
        </p:nvSpPr>
        <p:spPr>
          <a:xfrm>
            <a:off x="4328515" y="7534352"/>
            <a:ext cx="6113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Why-4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CBDDD4D-E872-40DF-B403-1F7EC283DD1E}"/>
              </a:ext>
            </a:extLst>
          </p:cNvPr>
          <p:cNvSpPr txBox="1"/>
          <p:nvPr/>
        </p:nvSpPr>
        <p:spPr>
          <a:xfrm>
            <a:off x="3151762" y="8126685"/>
            <a:ext cx="11857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My Note-PC’s screen is small</a:t>
            </a:r>
          </a:p>
        </p:txBody>
      </p:sp>
      <p:sp>
        <p:nvSpPr>
          <p:cNvPr id="93" name="Arrow: Right 92">
            <a:extLst>
              <a:ext uri="{FF2B5EF4-FFF2-40B4-BE49-F238E27FC236}">
                <a16:creationId xmlns:a16="http://schemas.microsoft.com/office/drawing/2014/main" id="{287F102B-F035-4101-85D8-759B3D7C8DD9}"/>
              </a:ext>
            </a:extLst>
          </p:cNvPr>
          <p:cNvSpPr/>
          <p:nvPr/>
        </p:nvSpPr>
        <p:spPr>
          <a:xfrm rot="5400000">
            <a:off x="3272586" y="8039382"/>
            <a:ext cx="200385" cy="683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2D3DEB2-B4CC-4941-9653-2C4455D7E159}"/>
              </a:ext>
            </a:extLst>
          </p:cNvPr>
          <p:cNvSpPr txBox="1"/>
          <p:nvPr/>
        </p:nvSpPr>
        <p:spPr>
          <a:xfrm>
            <a:off x="3363046" y="7927506"/>
            <a:ext cx="6113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Why-4</a:t>
            </a:r>
          </a:p>
        </p:txBody>
      </p:sp>
      <p:sp>
        <p:nvSpPr>
          <p:cNvPr id="95" name="Arrow: Curved Down 94">
            <a:extLst>
              <a:ext uri="{FF2B5EF4-FFF2-40B4-BE49-F238E27FC236}">
                <a16:creationId xmlns:a16="http://schemas.microsoft.com/office/drawing/2014/main" id="{AAE921B9-9F13-4744-9D09-CE6AB19121CA}"/>
              </a:ext>
            </a:extLst>
          </p:cNvPr>
          <p:cNvSpPr/>
          <p:nvPr/>
        </p:nvSpPr>
        <p:spPr>
          <a:xfrm>
            <a:off x="4079644" y="8208451"/>
            <a:ext cx="226178" cy="142225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21D17C8-FCB0-4B06-AB4F-B666B46A4E50}"/>
              </a:ext>
            </a:extLst>
          </p:cNvPr>
          <p:cNvSpPr txBox="1"/>
          <p:nvPr/>
        </p:nvSpPr>
        <p:spPr>
          <a:xfrm>
            <a:off x="4263193" y="8222850"/>
            <a:ext cx="1678788" cy="60016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Because I did not know a Note-PC is not good for long-hours work.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E058D85-30D6-4FF4-8AFD-66165B50BDB6}"/>
              </a:ext>
            </a:extLst>
          </p:cNvPr>
          <p:cNvSpPr txBox="1"/>
          <p:nvPr/>
        </p:nvSpPr>
        <p:spPr>
          <a:xfrm>
            <a:off x="3907215" y="8006270"/>
            <a:ext cx="6113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Why-5</a:t>
            </a:r>
          </a:p>
        </p:txBody>
      </p:sp>
      <p:sp>
        <p:nvSpPr>
          <p:cNvPr id="98" name="Arrow: Right 97">
            <a:extLst>
              <a:ext uri="{FF2B5EF4-FFF2-40B4-BE49-F238E27FC236}">
                <a16:creationId xmlns:a16="http://schemas.microsoft.com/office/drawing/2014/main" id="{B0429AEE-B598-49F8-81BD-E77918AAB8FD}"/>
              </a:ext>
            </a:extLst>
          </p:cNvPr>
          <p:cNvSpPr/>
          <p:nvPr/>
        </p:nvSpPr>
        <p:spPr>
          <a:xfrm rot="3676162">
            <a:off x="851090" y="8119159"/>
            <a:ext cx="456456" cy="591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512FD69-6BB0-4387-9D9F-EDFFDD16148A}"/>
              </a:ext>
            </a:extLst>
          </p:cNvPr>
          <p:cNvSpPr txBox="1"/>
          <p:nvPr/>
        </p:nvSpPr>
        <p:spPr>
          <a:xfrm>
            <a:off x="1099169" y="8052077"/>
            <a:ext cx="6113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Why-1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9B6838E-94E0-46F5-B73B-4504741E8A93}"/>
              </a:ext>
            </a:extLst>
          </p:cNvPr>
          <p:cNvSpPr txBox="1"/>
          <p:nvPr/>
        </p:nvSpPr>
        <p:spPr>
          <a:xfrm>
            <a:off x="1183833" y="8233467"/>
            <a:ext cx="1185775" cy="26161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No stretch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3941A86-0D27-40B7-A2C2-B673E60D9F17}"/>
              </a:ext>
            </a:extLst>
          </p:cNvPr>
          <p:cNvSpPr txBox="1"/>
          <p:nvPr/>
        </p:nvSpPr>
        <p:spPr>
          <a:xfrm>
            <a:off x="445811" y="8423077"/>
            <a:ext cx="1185775" cy="430887"/>
          </a:xfrm>
          <a:prstGeom prst="rect">
            <a:avLst/>
          </a:prstGeom>
          <a:noFill/>
          <a:ln>
            <a:solidFill>
              <a:schemeClr val="accent1"/>
            </a:solidFill>
            <a:prstDash val="dashDot"/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Weak back muscle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5E439B5-BF77-4103-979C-96975C0872C8}"/>
              </a:ext>
            </a:extLst>
          </p:cNvPr>
          <p:cNvSpPr txBox="1"/>
          <p:nvPr/>
        </p:nvSpPr>
        <p:spPr>
          <a:xfrm>
            <a:off x="342704" y="8219017"/>
            <a:ext cx="6113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Why-1</a:t>
            </a:r>
          </a:p>
        </p:txBody>
      </p:sp>
      <p:sp>
        <p:nvSpPr>
          <p:cNvPr id="104" name="Arrow: Right 103">
            <a:extLst>
              <a:ext uri="{FF2B5EF4-FFF2-40B4-BE49-F238E27FC236}">
                <a16:creationId xmlns:a16="http://schemas.microsoft.com/office/drawing/2014/main" id="{4E39A0A3-37C8-4659-9694-9F5906E83229}"/>
              </a:ext>
            </a:extLst>
          </p:cNvPr>
          <p:cNvSpPr/>
          <p:nvPr/>
        </p:nvSpPr>
        <p:spPr>
          <a:xfrm rot="5400000">
            <a:off x="696257" y="8165298"/>
            <a:ext cx="456456" cy="591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C87A41A-08BA-4FD6-814A-821180858914}"/>
              </a:ext>
            </a:extLst>
          </p:cNvPr>
          <p:cNvSpPr txBox="1"/>
          <p:nvPr/>
        </p:nvSpPr>
        <p:spPr>
          <a:xfrm>
            <a:off x="1464517" y="8637501"/>
            <a:ext cx="2458090" cy="26161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Don’t know how to stretch or exercise </a:t>
            </a:r>
          </a:p>
        </p:txBody>
      </p:sp>
      <p:sp>
        <p:nvSpPr>
          <p:cNvPr id="106" name="Arrow: Right 105">
            <a:extLst>
              <a:ext uri="{FF2B5EF4-FFF2-40B4-BE49-F238E27FC236}">
                <a16:creationId xmlns:a16="http://schemas.microsoft.com/office/drawing/2014/main" id="{A87C2326-A63E-4F1B-8466-446707DF6243}"/>
              </a:ext>
            </a:extLst>
          </p:cNvPr>
          <p:cNvSpPr/>
          <p:nvPr/>
        </p:nvSpPr>
        <p:spPr>
          <a:xfrm rot="3676162" flipV="1">
            <a:off x="1414925" y="8573484"/>
            <a:ext cx="220844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Arrow: Right 106">
            <a:extLst>
              <a:ext uri="{FF2B5EF4-FFF2-40B4-BE49-F238E27FC236}">
                <a16:creationId xmlns:a16="http://schemas.microsoft.com/office/drawing/2014/main" id="{7CB63F88-895F-49C5-B22F-B2B0C9C746DC}"/>
              </a:ext>
            </a:extLst>
          </p:cNvPr>
          <p:cNvSpPr/>
          <p:nvPr/>
        </p:nvSpPr>
        <p:spPr>
          <a:xfrm rot="295203" flipV="1">
            <a:off x="1068005" y="8707527"/>
            <a:ext cx="411011" cy="727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9FCAF6D-8A51-4172-BC08-AEBAA8A9CCFD}"/>
              </a:ext>
            </a:extLst>
          </p:cNvPr>
          <p:cNvSpPr txBox="1"/>
          <p:nvPr/>
        </p:nvSpPr>
        <p:spPr>
          <a:xfrm>
            <a:off x="973646" y="8514912"/>
            <a:ext cx="6113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Why-2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FBE1895-06C8-44A6-BD1D-6B159550B7A9}"/>
              </a:ext>
            </a:extLst>
          </p:cNvPr>
          <p:cNvSpPr txBox="1"/>
          <p:nvPr/>
        </p:nvSpPr>
        <p:spPr>
          <a:xfrm>
            <a:off x="1529654" y="8453810"/>
            <a:ext cx="6113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Why-2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C0D67B0-2621-4A96-B6F2-06D71080DB76}"/>
              </a:ext>
            </a:extLst>
          </p:cNvPr>
          <p:cNvSpPr txBox="1"/>
          <p:nvPr/>
        </p:nvSpPr>
        <p:spPr>
          <a:xfrm>
            <a:off x="1248230" y="9096253"/>
            <a:ext cx="12870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Did not make time</a:t>
            </a:r>
          </a:p>
        </p:txBody>
      </p:sp>
      <p:sp>
        <p:nvSpPr>
          <p:cNvPr id="111" name="Arrow: Right 110">
            <a:extLst>
              <a:ext uri="{FF2B5EF4-FFF2-40B4-BE49-F238E27FC236}">
                <a16:creationId xmlns:a16="http://schemas.microsoft.com/office/drawing/2014/main" id="{1F1BF299-F4F6-4BFA-B2A8-7996329E7113}"/>
              </a:ext>
            </a:extLst>
          </p:cNvPr>
          <p:cNvSpPr/>
          <p:nvPr/>
        </p:nvSpPr>
        <p:spPr>
          <a:xfrm rot="3676162" flipV="1">
            <a:off x="1697404" y="8954327"/>
            <a:ext cx="220844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DC1CD4E-7185-456E-BC61-EC62D40BA365}"/>
              </a:ext>
            </a:extLst>
          </p:cNvPr>
          <p:cNvSpPr txBox="1"/>
          <p:nvPr/>
        </p:nvSpPr>
        <p:spPr>
          <a:xfrm>
            <a:off x="1796134" y="8875277"/>
            <a:ext cx="6113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Why-3</a:t>
            </a:r>
          </a:p>
        </p:txBody>
      </p:sp>
      <p:sp>
        <p:nvSpPr>
          <p:cNvPr id="113" name="Arrow: Right 112">
            <a:extLst>
              <a:ext uri="{FF2B5EF4-FFF2-40B4-BE49-F238E27FC236}">
                <a16:creationId xmlns:a16="http://schemas.microsoft.com/office/drawing/2014/main" id="{6F6E9766-6E40-4ACB-A431-4F92A9A84DF5}"/>
              </a:ext>
            </a:extLst>
          </p:cNvPr>
          <p:cNvSpPr/>
          <p:nvPr/>
        </p:nvSpPr>
        <p:spPr>
          <a:xfrm rot="2882041">
            <a:off x="888185" y="8950090"/>
            <a:ext cx="456456" cy="591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BE385AA-5F5C-4388-B2CF-3173CD3DB95F}"/>
              </a:ext>
            </a:extLst>
          </p:cNvPr>
          <p:cNvSpPr txBox="1"/>
          <p:nvPr/>
        </p:nvSpPr>
        <p:spPr>
          <a:xfrm>
            <a:off x="709783" y="9035504"/>
            <a:ext cx="6113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Why-3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D08902B-D92E-463F-8A57-56E3AA43B62C}"/>
              </a:ext>
            </a:extLst>
          </p:cNvPr>
          <p:cNvSpPr txBox="1"/>
          <p:nvPr/>
        </p:nvSpPr>
        <p:spPr>
          <a:xfrm>
            <a:off x="2535714" y="9106378"/>
            <a:ext cx="1605823" cy="261610"/>
          </a:xfrm>
          <a:prstGeom prst="rect">
            <a:avLst/>
          </a:prstGeom>
          <a:noFill/>
          <a:ln w="12700">
            <a:noFill/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I was busy for work</a:t>
            </a:r>
          </a:p>
        </p:txBody>
      </p:sp>
      <p:sp>
        <p:nvSpPr>
          <p:cNvPr id="116" name="Arrow: Curved Down 115">
            <a:extLst>
              <a:ext uri="{FF2B5EF4-FFF2-40B4-BE49-F238E27FC236}">
                <a16:creationId xmlns:a16="http://schemas.microsoft.com/office/drawing/2014/main" id="{996007F8-A1E9-4CAD-BF0D-4861B63B3A8F}"/>
              </a:ext>
            </a:extLst>
          </p:cNvPr>
          <p:cNvSpPr/>
          <p:nvPr/>
        </p:nvSpPr>
        <p:spPr>
          <a:xfrm>
            <a:off x="2422413" y="8999175"/>
            <a:ext cx="226178" cy="142225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687DEF1-ACB8-41D1-8063-6799767B1C51}"/>
              </a:ext>
            </a:extLst>
          </p:cNvPr>
          <p:cNvSpPr txBox="1"/>
          <p:nvPr/>
        </p:nvSpPr>
        <p:spPr>
          <a:xfrm>
            <a:off x="2518143" y="8895527"/>
            <a:ext cx="6113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Why-4</a:t>
            </a:r>
          </a:p>
        </p:txBody>
      </p:sp>
      <p:pic>
        <p:nvPicPr>
          <p:cNvPr id="119" name="Picture 118">
            <a:extLst>
              <a:ext uri="{FF2B5EF4-FFF2-40B4-BE49-F238E27FC236}">
                <a16:creationId xmlns:a16="http://schemas.microsoft.com/office/drawing/2014/main" id="{CD49ADB6-07C3-430F-AC00-47BBE1EC7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7678" y="7340600"/>
            <a:ext cx="5712516" cy="105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1" name="Table 121">
            <a:extLst>
              <a:ext uri="{FF2B5EF4-FFF2-40B4-BE49-F238E27FC236}">
                <a16:creationId xmlns:a16="http://schemas.microsoft.com/office/drawing/2014/main" id="{3CE18900-DC19-4B4D-BDBB-668F55C127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079182"/>
              </p:ext>
            </p:extLst>
          </p:nvPr>
        </p:nvGraphicFramePr>
        <p:xfrm>
          <a:off x="6715841" y="8906894"/>
          <a:ext cx="5789424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4904">
                  <a:extLst>
                    <a:ext uri="{9D8B030D-6E8A-4147-A177-3AD203B41FA5}">
                      <a16:colId xmlns:a16="http://schemas.microsoft.com/office/drawing/2014/main" val="117647849"/>
                    </a:ext>
                  </a:extLst>
                </a:gridCol>
                <a:gridCol w="964904">
                  <a:extLst>
                    <a:ext uri="{9D8B030D-6E8A-4147-A177-3AD203B41FA5}">
                      <a16:colId xmlns:a16="http://schemas.microsoft.com/office/drawing/2014/main" val="3781234194"/>
                    </a:ext>
                  </a:extLst>
                </a:gridCol>
                <a:gridCol w="964904">
                  <a:extLst>
                    <a:ext uri="{9D8B030D-6E8A-4147-A177-3AD203B41FA5}">
                      <a16:colId xmlns:a16="http://schemas.microsoft.com/office/drawing/2014/main" val="2188198572"/>
                    </a:ext>
                  </a:extLst>
                </a:gridCol>
                <a:gridCol w="964904">
                  <a:extLst>
                    <a:ext uri="{9D8B030D-6E8A-4147-A177-3AD203B41FA5}">
                      <a16:colId xmlns:a16="http://schemas.microsoft.com/office/drawing/2014/main" val="2565974324"/>
                    </a:ext>
                  </a:extLst>
                </a:gridCol>
                <a:gridCol w="964904">
                  <a:extLst>
                    <a:ext uri="{9D8B030D-6E8A-4147-A177-3AD203B41FA5}">
                      <a16:colId xmlns:a16="http://schemas.microsoft.com/office/drawing/2014/main" val="4230910562"/>
                    </a:ext>
                  </a:extLst>
                </a:gridCol>
                <a:gridCol w="964904">
                  <a:extLst>
                    <a:ext uri="{9D8B030D-6E8A-4147-A177-3AD203B41FA5}">
                      <a16:colId xmlns:a16="http://schemas.microsoft.com/office/drawing/2014/main" val="1166835088"/>
                    </a:ext>
                  </a:extLst>
                </a:gridCol>
              </a:tblGrid>
              <a:tr h="225878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July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August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September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October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November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December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9447079"/>
                  </a:ext>
                </a:extLst>
              </a:tr>
              <a:tr h="225878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a, c, d, A, B,D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b, 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465713"/>
                  </a:ext>
                </a:extLst>
              </a:tr>
            </a:tbl>
          </a:graphicData>
        </a:graphic>
      </p:graphicFrame>
      <p:sp>
        <p:nvSpPr>
          <p:cNvPr id="122" name="TextBox 121">
            <a:extLst>
              <a:ext uri="{FF2B5EF4-FFF2-40B4-BE49-F238E27FC236}">
                <a16:creationId xmlns:a16="http://schemas.microsoft.com/office/drawing/2014/main" id="{364FDE5B-CD4B-49E1-8E91-1ACC6509D7BB}"/>
              </a:ext>
            </a:extLst>
          </p:cNvPr>
          <p:cNvSpPr txBox="1"/>
          <p:nvPr/>
        </p:nvSpPr>
        <p:spPr>
          <a:xfrm>
            <a:off x="300125" y="6447011"/>
            <a:ext cx="1374006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We can evaluate the progress by measuring time to find iPhone, keys, wallet, and staples.</a:t>
            </a:r>
          </a:p>
        </p:txBody>
      </p:sp>
    </p:spTree>
    <p:extLst>
      <p:ext uri="{BB962C8B-B14F-4D97-AF65-F5344CB8AC3E}">
        <p14:creationId xmlns:p14="http://schemas.microsoft.com/office/powerpoint/2010/main" val="2307869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2469</TotalTime>
  <Words>725</Words>
  <Application>Microsoft Office PowerPoint</Application>
  <PresentationFormat>A3 297x420 mm</PresentationFormat>
  <Paragraphs>113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Takeaki Toma</dc:creator>
  <cp:lastModifiedBy>Takeaki Toma</cp:lastModifiedBy>
  <cp:revision>53</cp:revision>
  <dcterms:created xsi:type="dcterms:W3CDTF">2020-07-14T18:31:18Z</dcterms:created>
  <dcterms:modified xsi:type="dcterms:W3CDTF">2026-06-30T17:28:07Z</dcterms:modified>
</cp:coreProperties>
</file>